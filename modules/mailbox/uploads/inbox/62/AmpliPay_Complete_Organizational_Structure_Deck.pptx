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1400" y="2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theorg.com/insights/what-is-a-chief-technical-officer-cto" TargetMode="External"/><Relationship Id="rId3" Type="http://schemas.openxmlformats.org/officeDocument/2006/relationships/hyperlink" Target="https://theorg.com/insights/what-is-a-c-level-executive" TargetMode="External"/><Relationship Id="rId7" Type="http://schemas.openxmlformats.org/officeDocument/2006/relationships/hyperlink" Target="https://theorg.com/iterate/chief-financial-officer-cfo" TargetMode="External"/><Relationship Id="rId2" Type="http://schemas.openxmlformats.org/officeDocument/2006/relationships/hyperlink" Target="https://theorg.com/iterate/what-is-a-board-of-directors" TargetMode="External"/><Relationship Id="rId1" Type="http://schemas.openxmlformats.org/officeDocument/2006/relationships/slideLayout" Target="../slideLayouts/slideLayout2.xml"/><Relationship Id="rId6" Type="http://schemas.openxmlformats.org/officeDocument/2006/relationships/hyperlink" Target="https://theorg.com/insights/what-is-a-chief-operating-officer-coo" TargetMode="External"/><Relationship Id="rId5" Type="http://schemas.openxmlformats.org/officeDocument/2006/relationships/hyperlink" Target="https://theorg.com/insights/who-reports-to-the-ceo" TargetMode="External"/><Relationship Id="rId10" Type="http://schemas.openxmlformats.org/officeDocument/2006/relationships/hyperlink" Target="https://theorg.com/insights/the-role-of-a-chief-people-officer-cpo-in-an-organization" TargetMode="External"/><Relationship Id="rId4" Type="http://schemas.openxmlformats.org/officeDocument/2006/relationships/hyperlink" Target="https://theorg.com/iterate/chief-executive-officer-ceo" TargetMode="External"/><Relationship Id="rId9" Type="http://schemas.openxmlformats.org/officeDocument/2006/relationships/hyperlink" Target="https://theorg.com/iterate/chief-marketing-officer-cm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solidFill>
                  <a:srgbClr val="00B0F0"/>
                </a:solidFill>
              </a:rPr>
              <a:t>AmpliPay</a:t>
            </a:r>
            <a:r>
              <a:rPr dirty="0"/>
              <a:t> Updated Organizational Structure</a:t>
            </a:r>
          </a:p>
        </p:txBody>
      </p:sp>
      <p:sp>
        <p:nvSpPr>
          <p:cNvPr id="3" name="Subtitle 2"/>
          <p:cNvSpPr>
            <a:spLocks noGrp="1"/>
          </p:cNvSpPr>
          <p:nvPr>
            <p:ph type="subTitle" idx="1"/>
          </p:nvPr>
        </p:nvSpPr>
        <p:spPr/>
        <p:txBody>
          <a:bodyPr/>
          <a:lstStyle/>
          <a:p>
            <a:r>
              <a:rPr dirty="0">
                <a:solidFill>
                  <a:srgbClr val="00B0F0"/>
                </a:solidFill>
              </a:rPr>
              <a:t>Global Fintech Company 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Executive Leadership</a:t>
            </a:r>
          </a:p>
        </p:txBody>
      </p:sp>
      <p:sp>
        <p:nvSpPr>
          <p:cNvPr id="3" name="Content Placeholder 2"/>
          <p:cNvSpPr>
            <a:spLocks noGrp="1"/>
          </p:cNvSpPr>
          <p:nvPr>
            <p:ph idx="1"/>
          </p:nvPr>
        </p:nvSpPr>
        <p:spPr/>
        <p:txBody>
          <a:bodyPr>
            <a:normAutofit/>
          </a:bodyPr>
          <a:lstStyle/>
          <a:p>
            <a:r>
              <a:rPr sz="2400" dirty="0"/>
              <a:t>CEO – Vision, strategy, public representation</a:t>
            </a:r>
          </a:p>
          <a:p>
            <a:r>
              <a:rPr sz="2400" dirty="0"/>
              <a:t>COO – Day-to-day global operations</a:t>
            </a:r>
          </a:p>
          <a:p>
            <a:r>
              <a:rPr sz="2400" dirty="0"/>
              <a:t>CFO – Financial oversight, audits, and compliance</a:t>
            </a:r>
          </a:p>
          <a:p>
            <a:r>
              <a:rPr sz="2400" dirty="0"/>
              <a:t>CTO – Technology infrastructure and development</a:t>
            </a:r>
          </a:p>
          <a:p>
            <a:r>
              <a:rPr sz="2400" dirty="0"/>
              <a:t>Head of Product – Product roadmap, innovation</a:t>
            </a:r>
          </a:p>
          <a:p>
            <a:r>
              <a:rPr sz="2400" dirty="0"/>
              <a:t>CMO – Marketing, communications, and PR</a:t>
            </a:r>
          </a:p>
          <a:p>
            <a:r>
              <a:rPr sz="2400" dirty="0"/>
              <a:t>CRO – Revenue strategy and partnerships</a:t>
            </a:r>
          </a:p>
          <a:p>
            <a:r>
              <a:rPr sz="2400" dirty="0"/>
              <a:t>General Counsel – Legal, contracts, corporate governance</a:t>
            </a:r>
          </a:p>
          <a:p>
            <a:r>
              <a:rPr sz="2400" dirty="0"/>
              <a:t>IR/Wall Street Team – Investor relations, regulatory communication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Departmental Structure</a:t>
            </a:r>
          </a:p>
        </p:txBody>
      </p:sp>
      <p:sp>
        <p:nvSpPr>
          <p:cNvPr id="3" name="Content Placeholder 2"/>
          <p:cNvSpPr>
            <a:spLocks noGrp="1"/>
          </p:cNvSpPr>
          <p:nvPr>
            <p:ph idx="1"/>
          </p:nvPr>
        </p:nvSpPr>
        <p:spPr/>
        <p:txBody>
          <a:bodyPr>
            <a:normAutofit/>
          </a:bodyPr>
          <a:lstStyle/>
          <a:p>
            <a:r>
              <a:rPr sz="2400" dirty="0"/>
              <a:t>Product Development – Product design and lifecycle</a:t>
            </a:r>
          </a:p>
          <a:p>
            <a:r>
              <a:rPr sz="2400" dirty="0"/>
              <a:t>Technology – Infrastructure, development, security, AI/ML</a:t>
            </a:r>
          </a:p>
          <a:p>
            <a:r>
              <a:rPr sz="2400" dirty="0"/>
              <a:t>Sales &amp; Marketing – Lead gen, branding, digital strategy</a:t>
            </a:r>
          </a:p>
          <a:p>
            <a:r>
              <a:rPr sz="2400" dirty="0"/>
              <a:t>Risk &amp; Compliance – KYC, AML, fraud prevention</a:t>
            </a:r>
          </a:p>
          <a:p>
            <a:r>
              <a:rPr sz="2400" dirty="0"/>
              <a:t>Finance &amp; Treasury – Accounting, reconciliation, audits</a:t>
            </a:r>
          </a:p>
          <a:p>
            <a:r>
              <a:rPr sz="2400" dirty="0"/>
              <a:t>Operations – Merchant services, processing, onboarding</a:t>
            </a:r>
          </a:p>
          <a:p>
            <a:r>
              <a:rPr sz="2400" dirty="0"/>
              <a:t>Human Resources – Talent management, hiring, compliance</a:t>
            </a:r>
          </a:p>
          <a:p>
            <a:r>
              <a:rPr sz="2400" dirty="0"/>
              <a:t>Customer Support – Support, ticketing, feedback loops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3. Global Structure and Responsibilities</a:t>
            </a:r>
          </a:p>
        </p:txBody>
      </p:sp>
      <p:sp>
        <p:nvSpPr>
          <p:cNvPr id="3" name="Content Placeholder 2"/>
          <p:cNvSpPr>
            <a:spLocks noGrp="1"/>
          </p:cNvSpPr>
          <p:nvPr>
            <p:ph idx="1"/>
          </p:nvPr>
        </p:nvSpPr>
        <p:spPr/>
        <p:txBody>
          <a:bodyPr>
            <a:normAutofit/>
          </a:bodyPr>
          <a:lstStyle/>
          <a:p>
            <a:r>
              <a:rPr sz="2400" dirty="0"/>
              <a:t>USA (HQ): Executive leadership, sales, investor relations, strategic direction</a:t>
            </a:r>
          </a:p>
          <a:p>
            <a:r>
              <a:rPr sz="2400" dirty="0"/>
              <a:t>Europe &amp; Israel: Underwriting, AI/ML development, compliance, regional regulation</a:t>
            </a:r>
          </a:p>
          <a:p>
            <a:r>
              <a:rPr sz="2400" dirty="0"/>
              <a:t>India: </a:t>
            </a:r>
            <a:r>
              <a:rPr lang="en-US" sz="2400" dirty="0"/>
              <a:t>Back-office</a:t>
            </a:r>
            <a:r>
              <a:rPr sz="2400" dirty="0"/>
              <a:t> operations, onboarding, transaction monitoring, media &amp; dev support</a:t>
            </a:r>
          </a:p>
          <a:p>
            <a:r>
              <a:rPr sz="2400" dirty="0"/>
              <a:t>LATAM (Future): Market development, regional sales, local compliance</a:t>
            </a:r>
          </a:p>
          <a:p>
            <a:r>
              <a:rPr sz="2400" dirty="0"/>
              <a:t>Africa (Future): Local partnerships, remittance growth, mobile integrations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4. Board of Directors &amp; Governance</a:t>
            </a:r>
          </a:p>
        </p:txBody>
      </p:sp>
      <p:sp>
        <p:nvSpPr>
          <p:cNvPr id="3" name="Content Placeholder 2"/>
          <p:cNvSpPr>
            <a:spLocks noGrp="1"/>
          </p:cNvSpPr>
          <p:nvPr>
            <p:ph idx="1"/>
          </p:nvPr>
        </p:nvSpPr>
        <p:spPr/>
        <p:txBody>
          <a:bodyPr>
            <a:normAutofit/>
          </a:bodyPr>
          <a:lstStyle/>
          <a:p>
            <a:r>
              <a:rPr sz="2400" dirty="0"/>
              <a:t>Chairman of the Board – Governance oversight</a:t>
            </a:r>
          </a:p>
          <a:p>
            <a:r>
              <a:rPr sz="2400" dirty="0"/>
              <a:t>Independent Directors – Industry, legal, and financial experts</a:t>
            </a:r>
          </a:p>
          <a:p>
            <a:r>
              <a:rPr sz="2400" dirty="0"/>
              <a:t>Audit &amp; Compliance Committee – Internal control &amp; reporting</a:t>
            </a:r>
          </a:p>
          <a:p>
            <a:r>
              <a:rPr sz="2400" dirty="0"/>
              <a:t>Compensation Committee – Executive compensation and equity plans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Expanded Executive Leadership</a:t>
            </a:r>
          </a:p>
        </p:txBody>
      </p:sp>
      <p:sp>
        <p:nvSpPr>
          <p:cNvPr id="3" name="Content Placeholder 2"/>
          <p:cNvSpPr>
            <a:spLocks noGrp="1"/>
          </p:cNvSpPr>
          <p:nvPr>
            <p:ph idx="1"/>
          </p:nvPr>
        </p:nvSpPr>
        <p:spPr/>
        <p:txBody>
          <a:bodyPr>
            <a:normAutofit/>
          </a:bodyPr>
          <a:lstStyle/>
          <a:p>
            <a:r>
              <a:rPr sz="2400" dirty="0"/>
              <a:t>President (Global Operations) – Execution of CEO strategy across regions</a:t>
            </a:r>
          </a:p>
          <a:p>
            <a:r>
              <a:rPr sz="2400" dirty="0"/>
              <a:t>Chief Strategy Officer (CSO) – M&amp;A, market expansion, partnerships</a:t>
            </a:r>
          </a:p>
          <a:p>
            <a:r>
              <a:rPr sz="2400" dirty="0"/>
              <a:t>Deputy CEO (Investment Banking) – Reg A+, capital markets, M&amp;A</a:t>
            </a:r>
          </a:p>
          <a:p>
            <a:r>
              <a:rPr sz="2400" dirty="0"/>
              <a:t>Chief Legal Officer (General Counsel) – Contracts, governance, compliance</a:t>
            </a:r>
          </a:p>
          <a:p>
            <a:r>
              <a:rPr sz="2400" dirty="0"/>
              <a:t>Head of Investor Relations – OTC/Wall Street liaison, shareholder updates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6. Strategic Divisions &amp; Specialized Units</a:t>
            </a:r>
          </a:p>
        </p:txBody>
      </p:sp>
      <p:sp>
        <p:nvSpPr>
          <p:cNvPr id="3" name="Content Placeholder 2"/>
          <p:cNvSpPr>
            <a:spLocks noGrp="1"/>
          </p:cNvSpPr>
          <p:nvPr>
            <p:ph idx="1"/>
          </p:nvPr>
        </p:nvSpPr>
        <p:spPr/>
        <p:txBody>
          <a:bodyPr>
            <a:noAutofit/>
          </a:bodyPr>
          <a:lstStyle/>
          <a:p>
            <a:r>
              <a:rPr sz="2400" dirty="0"/>
              <a:t>Business Development – Bank partnerships, ISO acquisition</a:t>
            </a:r>
          </a:p>
          <a:p>
            <a:r>
              <a:rPr sz="2400" dirty="0"/>
              <a:t>Investment Strategy – Funding partners, VC relationships</a:t>
            </a:r>
          </a:p>
          <a:p>
            <a:r>
              <a:rPr sz="2400" dirty="0"/>
              <a:t>Public Market &amp; Regulatory Affairs – FINRA/SEC/OTC compliance</a:t>
            </a:r>
          </a:p>
          <a:p>
            <a:r>
              <a:rPr sz="2400" dirty="0"/>
              <a:t>Risk, Credit &amp; Legal – Scheme rules, fraud, underwriting</a:t>
            </a:r>
          </a:p>
          <a:p>
            <a:r>
              <a:rPr sz="2400" dirty="0"/>
              <a:t>Regional Operations – U.S., Israel, India (with future LATAM, Africa)</a:t>
            </a:r>
          </a:p>
          <a:p>
            <a:r>
              <a:rPr sz="2400" dirty="0"/>
              <a:t>Audit &amp; Business Planning – Internal controls and growth plans</a:t>
            </a:r>
          </a:p>
          <a:p>
            <a:r>
              <a:rPr sz="2400" dirty="0"/>
              <a:t>AI/Risk Labs – R&amp;D in AI/ML for underwriting and automation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7. Comprehensive Fintech Departmental Structure</a:t>
            </a:r>
          </a:p>
        </p:txBody>
      </p:sp>
      <p:sp>
        <p:nvSpPr>
          <p:cNvPr id="3" name="Content Placeholder 2"/>
          <p:cNvSpPr>
            <a:spLocks noGrp="1"/>
          </p:cNvSpPr>
          <p:nvPr>
            <p:ph idx="1"/>
          </p:nvPr>
        </p:nvSpPr>
        <p:spPr/>
        <p:txBody>
          <a:bodyPr>
            <a:noAutofit/>
          </a:bodyPr>
          <a:lstStyle/>
          <a:p>
            <a:r>
              <a:rPr sz="1800" dirty="0"/>
              <a:t>Board of Directors – Governance and oversight</a:t>
            </a:r>
          </a:p>
          <a:p>
            <a:r>
              <a:rPr sz="1800" dirty="0"/>
              <a:t>CEO – Vision and strategic direction</a:t>
            </a:r>
          </a:p>
          <a:p>
            <a:endParaRPr sz="1800" dirty="0"/>
          </a:p>
          <a:p>
            <a:r>
              <a:rPr sz="1800" dirty="0"/>
              <a:t>Operations – Policies, procedures, HR (COO)</a:t>
            </a:r>
          </a:p>
          <a:p>
            <a:r>
              <a:rPr sz="1800" dirty="0"/>
              <a:t>Finance – Accounting, fundraising, tax, audit (CFO)</a:t>
            </a:r>
          </a:p>
          <a:p>
            <a:r>
              <a:rPr sz="1800" dirty="0"/>
              <a:t>Product – Customer research, roadmap, analytics (CPO)</a:t>
            </a:r>
          </a:p>
          <a:p>
            <a:r>
              <a:rPr sz="1800" dirty="0"/>
              <a:t>Technology – Dev, cybersecurity, infrastructure (CTO)</a:t>
            </a:r>
          </a:p>
          <a:p>
            <a:r>
              <a:rPr sz="1800" dirty="0"/>
              <a:t>Marketing – Branding, campaigns, partnerships (CMO)</a:t>
            </a:r>
          </a:p>
          <a:p>
            <a:r>
              <a:rPr sz="1800" dirty="0"/>
              <a:t>Human Resources – Talent, culture, training (Chief People Officer)</a:t>
            </a:r>
          </a:p>
          <a:p>
            <a:r>
              <a:rPr sz="1800" dirty="0"/>
              <a:t>Legal &amp; Compliance – General Counsel, SEC/FINRA, regulatory lawyers</a:t>
            </a:r>
          </a:p>
          <a:p>
            <a:r>
              <a:rPr sz="1800" dirty="0"/>
              <a:t>Investor Relations – OTC Markets communications, Wall Street engagement</a:t>
            </a:r>
          </a:p>
          <a:p>
            <a:r>
              <a:rPr sz="1800" dirty="0"/>
              <a:t>Crypto &amp; Trading (Future) – Blockchain, licensing, wallet and exchange management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41403-14C3-112C-7694-500E13D2C8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89F3E1-8E3E-130E-A4B9-ACCC90C0827F}"/>
              </a:ext>
            </a:extLst>
          </p:cNvPr>
          <p:cNvSpPr>
            <a:spLocks noGrp="1"/>
          </p:cNvSpPr>
          <p:nvPr>
            <p:ph idx="1"/>
          </p:nvPr>
        </p:nvSpPr>
        <p:spPr/>
        <p:txBody>
          <a:bodyPr>
            <a:normAutofit fontScale="25000" lnSpcReduction="20000"/>
          </a:bodyPr>
          <a:lstStyle/>
          <a:p>
            <a:r>
              <a:rPr lang="en-US" b="1" dirty="0"/>
              <a:t>Fintech Company Organizational Structure</a:t>
            </a:r>
          </a:p>
          <a:p>
            <a:r>
              <a:rPr lang="en-US" b="1" dirty="0"/>
              <a:t>Board of Directors</a:t>
            </a:r>
          </a:p>
          <a:p>
            <a:r>
              <a:rPr lang="en-US" dirty="0"/>
              <a:t>If a fintech company is large enough, it may have a </a:t>
            </a:r>
            <a:r>
              <a:rPr lang="en-US" dirty="0">
                <a:hlinkClick r:id="rId2" tooltip="The Org's guide to a Board of Directors"/>
              </a:rPr>
              <a:t>Board of Directors</a:t>
            </a:r>
            <a:r>
              <a:rPr lang="en-US" dirty="0"/>
              <a:t>. This board is made up of the business leaders who ultimately control the direction of the company. They may take an active role in managing the organization’s operations, or they leave that in the hands of the CEO and the other </a:t>
            </a:r>
            <a:r>
              <a:rPr lang="en-US" dirty="0">
                <a:hlinkClick r:id="rId3" tooltip="The Org's guide to C-level executives"/>
              </a:rPr>
              <a:t>C-level executives</a:t>
            </a:r>
            <a:r>
              <a:rPr lang="en-US" dirty="0"/>
              <a:t>.</a:t>
            </a:r>
          </a:p>
          <a:p>
            <a:r>
              <a:rPr lang="en-US" b="1" dirty="0"/>
              <a:t>CEO</a:t>
            </a:r>
          </a:p>
          <a:p>
            <a:r>
              <a:rPr lang="en-US" dirty="0"/>
              <a:t>The </a:t>
            </a:r>
            <a:r>
              <a:rPr lang="en-US" dirty="0">
                <a:hlinkClick r:id="rId4" tooltip="The Org's guide to CEOs"/>
              </a:rPr>
              <a:t>Chief Executive Officer (CEO)</a:t>
            </a:r>
            <a:r>
              <a:rPr lang="en-US" dirty="0"/>
              <a:t> sits </a:t>
            </a:r>
            <a:r>
              <a:rPr lang="en-US" dirty="0">
                <a:hlinkClick r:id="rId5" tooltip="The Org's explainer on who reports to a CEO"/>
              </a:rPr>
              <a:t>at the top</a:t>
            </a:r>
            <a:r>
              <a:rPr lang="en-US" dirty="0"/>
              <a:t> of the reporting structure for most fintech companies. Many of the daily functions are delegated to other C-level executives and department heads, who then report directly to the CEO. The CEO uses this information to direct the company and set goals.</a:t>
            </a:r>
          </a:p>
          <a:p>
            <a:r>
              <a:rPr lang="en-US" b="1" dirty="0"/>
              <a:t>Operations</a:t>
            </a:r>
          </a:p>
          <a:p>
            <a:r>
              <a:rPr lang="en-US" dirty="0"/>
              <a:t>The Operations department handles the basic processes that keep a fintech company operating effectively. This includes:</a:t>
            </a:r>
          </a:p>
          <a:p>
            <a:r>
              <a:rPr lang="en-US" dirty="0"/>
              <a:t>Creating standard policies and procedures</a:t>
            </a:r>
          </a:p>
          <a:p>
            <a:r>
              <a:rPr lang="en-US" dirty="0"/>
              <a:t>Project management</a:t>
            </a:r>
          </a:p>
          <a:p>
            <a:r>
              <a:rPr lang="en-US" dirty="0"/>
              <a:t>Supply chain management</a:t>
            </a:r>
          </a:p>
          <a:p>
            <a:r>
              <a:rPr lang="en-US" dirty="0"/>
              <a:t>When a fintech company is still in its startup stage, Operations may also include:</a:t>
            </a:r>
          </a:p>
          <a:p>
            <a:r>
              <a:rPr lang="en-US" dirty="0"/>
              <a:t>Human Resources</a:t>
            </a:r>
          </a:p>
          <a:p>
            <a:r>
              <a:rPr lang="en-US" dirty="0"/>
              <a:t>Finance</a:t>
            </a:r>
          </a:p>
          <a:p>
            <a:r>
              <a:rPr lang="en-US" dirty="0"/>
              <a:t>Marketing</a:t>
            </a:r>
          </a:p>
          <a:p>
            <a:r>
              <a:rPr lang="en-US" dirty="0"/>
              <a:t>But as a company grows, these generally become distinct departments. The head of Operations is a </a:t>
            </a:r>
            <a:r>
              <a:rPr lang="en-US" dirty="0">
                <a:hlinkClick r:id="rId6" tooltip="The Org's explainer on what a COO does"/>
              </a:rPr>
              <a:t>Chief Operating Officer (COO)</a:t>
            </a:r>
            <a:r>
              <a:rPr lang="en-US" dirty="0"/>
              <a:t> or Vice President of Operations. First and foremost, the COO is responsible for making sure that the company is operating as it should—and meeting the CEO’s expectations.</a:t>
            </a:r>
          </a:p>
          <a:p>
            <a:r>
              <a:rPr lang="en-US" b="1" dirty="0"/>
              <a:t>Finance</a:t>
            </a:r>
          </a:p>
          <a:p>
            <a:r>
              <a:rPr lang="en-US" dirty="0"/>
              <a:t>The Finance department manages a company’s economic strategy. Their job is to make sure the company uses its money as efficiently as possible—and above all, that it doesn’t run out of funds. This means overseeing:</a:t>
            </a:r>
          </a:p>
          <a:p>
            <a:r>
              <a:rPr lang="en-US" dirty="0"/>
              <a:t>Accounting</a:t>
            </a:r>
          </a:p>
          <a:p>
            <a:r>
              <a:rPr lang="en-US" dirty="0"/>
              <a:t>Bookkeeping</a:t>
            </a:r>
          </a:p>
          <a:p>
            <a:r>
              <a:rPr lang="en-US" dirty="0"/>
              <a:t>Financial modeling</a:t>
            </a:r>
          </a:p>
          <a:p>
            <a:r>
              <a:rPr lang="en-US" dirty="0"/>
              <a:t>Fundraising operations</a:t>
            </a:r>
          </a:p>
          <a:p>
            <a:r>
              <a:rPr lang="en-US" dirty="0"/>
              <a:t>Statutory and investor reporting</a:t>
            </a:r>
          </a:p>
          <a:p>
            <a:r>
              <a:rPr lang="en-US" dirty="0"/>
              <a:t>Fraud risk management</a:t>
            </a:r>
          </a:p>
          <a:p>
            <a:r>
              <a:rPr lang="en-US" dirty="0"/>
              <a:t>Payment management</a:t>
            </a:r>
          </a:p>
          <a:p>
            <a:r>
              <a:rPr lang="en-US" dirty="0"/>
              <a:t>Tax management</a:t>
            </a:r>
          </a:p>
          <a:p>
            <a:r>
              <a:rPr lang="en-US" dirty="0"/>
              <a:t>Internal auditing</a:t>
            </a:r>
          </a:p>
          <a:p>
            <a:r>
              <a:rPr lang="en-US" dirty="0"/>
              <a:t>In all this, Finance’s goal is to optimize the company’s business model and maintain the ideal balance of operating cash flow, debt, and equity.</a:t>
            </a:r>
          </a:p>
          <a:p>
            <a:r>
              <a:rPr lang="en-US" dirty="0"/>
              <a:t>The Finance department is led by the </a:t>
            </a:r>
            <a:r>
              <a:rPr lang="en-US" dirty="0">
                <a:hlinkClick r:id="rId7" tooltip="The Org's explainer on what a CFO does"/>
              </a:rPr>
              <a:t>Chief Financial Officer (CFO)</a:t>
            </a:r>
            <a:r>
              <a:rPr lang="en-US" dirty="0"/>
              <a:t>. As with all C-level executives, the CFO reports directly to the CEO.</a:t>
            </a:r>
          </a:p>
          <a:p>
            <a:r>
              <a:rPr lang="en-US" b="1" dirty="0"/>
              <a:t>Product</a:t>
            </a:r>
          </a:p>
          <a:p>
            <a:r>
              <a:rPr lang="en-US" dirty="0"/>
              <a:t>Behind every great product is a great Product team — and fintech is no exception. The Product department researches your ideal customer base to discover their unique needs and preferences, then develops a product strategy to meet both.</a:t>
            </a:r>
          </a:p>
          <a:p>
            <a:r>
              <a:rPr lang="en-US" dirty="0"/>
              <a:t>Product’s duties include:</a:t>
            </a:r>
          </a:p>
          <a:p>
            <a:r>
              <a:rPr lang="en-US" dirty="0"/>
              <a:t>Customer research</a:t>
            </a:r>
          </a:p>
          <a:p>
            <a:r>
              <a:rPr lang="en-US" dirty="0"/>
              <a:t>Data analysis</a:t>
            </a:r>
          </a:p>
          <a:p>
            <a:r>
              <a:rPr lang="en-US" dirty="0"/>
              <a:t>Product development</a:t>
            </a:r>
          </a:p>
          <a:p>
            <a:r>
              <a:rPr lang="en-US" dirty="0"/>
              <a:t>Product optimization</a:t>
            </a:r>
          </a:p>
          <a:p>
            <a:r>
              <a:rPr lang="en-US" dirty="0"/>
              <a:t>Then, once they’ve created a clear roadmap for a product, they hand the idea to the Technology department to make it a reality. In the end, however, the Product team bears final responsibility for the product’s success or failure.</a:t>
            </a:r>
          </a:p>
          <a:p>
            <a:r>
              <a:rPr lang="en-US" dirty="0"/>
              <a:t>Product is headed by a Chief Product Officer (CPO) or Vice President of Product.</a:t>
            </a:r>
          </a:p>
          <a:p>
            <a:r>
              <a:rPr lang="en-US" b="1" dirty="0"/>
              <a:t>Technology</a:t>
            </a:r>
          </a:p>
          <a:p>
            <a:r>
              <a:rPr lang="en-US" dirty="0"/>
              <a:t>The Technology department is in charge of an organization’s technological needs. For fintech companies, this involves both internal IT infrastructure as well as researching and developing software products.</a:t>
            </a:r>
          </a:p>
          <a:p>
            <a:r>
              <a:rPr lang="en-US" dirty="0"/>
              <a:t>Technology usually manages:</a:t>
            </a:r>
          </a:p>
          <a:p>
            <a:r>
              <a:rPr lang="en-US" dirty="0"/>
              <a:t>Front- and back-end development</a:t>
            </a:r>
          </a:p>
          <a:p>
            <a:r>
              <a:rPr lang="en-US" dirty="0"/>
              <a:t>Network analysis</a:t>
            </a:r>
          </a:p>
          <a:p>
            <a:r>
              <a:rPr lang="en-US" dirty="0"/>
              <a:t>Software engineering</a:t>
            </a:r>
          </a:p>
          <a:p>
            <a:r>
              <a:rPr lang="en-US" dirty="0"/>
              <a:t>Design</a:t>
            </a:r>
          </a:p>
          <a:p>
            <a:r>
              <a:rPr lang="en-US" dirty="0"/>
              <a:t>Database administration</a:t>
            </a:r>
          </a:p>
          <a:p>
            <a:r>
              <a:rPr lang="en-US" dirty="0"/>
              <a:t>Cybersecurity</a:t>
            </a:r>
          </a:p>
          <a:p>
            <a:r>
              <a:rPr lang="en-US" dirty="0"/>
              <a:t>Payment infrastructure</a:t>
            </a:r>
          </a:p>
          <a:p>
            <a:r>
              <a:rPr lang="en-US" dirty="0"/>
              <a:t>IT support</a:t>
            </a:r>
          </a:p>
          <a:p>
            <a:r>
              <a:rPr lang="en-US" dirty="0"/>
              <a:t>This department is run by a </a:t>
            </a:r>
            <a:r>
              <a:rPr lang="en-US" dirty="0">
                <a:hlinkClick r:id="rId8" tooltip="The Org's explainer on what a CTO does"/>
              </a:rPr>
              <a:t>Chief Technology Officer (CTO)</a:t>
            </a:r>
            <a:r>
              <a:rPr lang="en-US" dirty="0"/>
              <a:t>.</a:t>
            </a:r>
          </a:p>
          <a:p>
            <a:r>
              <a:rPr lang="en-US" b="1" dirty="0"/>
              <a:t>Marketing</a:t>
            </a:r>
          </a:p>
          <a:p>
            <a:r>
              <a:rPr lang="en-US" dirty="0"/>
              <a:t>In order to make an impact with your fintech product, users have to know about it first. That’s where Marketing comes in. The Marketing team will spread awareness for your business, generate interest, and show the world how your product solves their problems or answers their needs.</a:t>
            </a:r>
          </a:p>
          <a:p>
            <a:r>
              <a:rPr lang="en-US" dirty="0"/>
              <a:t>Marketing will also work to develop your company’s image and inspire brand loyalty.</a:t>
            </a:r>
          </a:p>
          <a:p>
            <a:r>
              <a:rPr lang="en-US" dirty="0"/>
              <a:t>Depending on the details of your business model, your Marketing department may need to take a business-to-customer (B2C) or business-to-business (B2B) approach. Either way, they’ll manage:</a:t>
            </a:r>
          </a:p>
          <a:p>
            <a:r>
              <a:rPr lang="en-US" dirty="0"/>
              <a:t>Customer research</a:t>
            </a:r>
          </a:p>
          <a:p>
            <a:r>
              <a:rPr lang="en-US" dirty="0"/>
              <a:t>Digital marketing</a:t>
            </a:r>
          </a:p>
          <a:p>
            <a:r>
              <a:rPr lang="en-US" dirty="0"/>
              <a:t>Ad campaigns</a:t>
            </a:r>
          </a:p>
          <a:p>
            <a:r>
              <a:rPr lang="en-US" dirty="0"/>
              <a:t>Branding</a:t>
            </a:r>
          </a:p>
          <a:p>
            <a:r>
              <a:rPr lang="en-US" dirty="0"/>
              <a:t>Strategic partnerships</a:t>
            </a:r>
          </a:p>
          <a:p>
            <a:r>
              <a:rPr lang="en-US" dirty="0"/>
              <a:t>Marketing departments are generally led by a </a:t>
            </a:r>
            <a:r>
              <a:rPr lang="en-US" dirty="0">
                <a:hlinkClick r:id="rId9" tooltip="The Org's guide to CMOs"/>
              </a:rPr>
              <a:t>Chief Marketing Officer (CMO)</a:t>
            </a:r>
            <a:r>
              <a:rPr lang="en-US" dirty="0"/>
              <a:t>, Head of Marketing, or Vice President of Marketing.</a:t>
            </a:r>
          </a:p>
          <a:p>
            <a:r>
              <a:rPr lang="en-US" b="1" dirty="0"/>
              <a:t>Human Resources</a:t>
            </a:r>
          </a:p>
          <a:p>
            <a:r>
              <a:rPr lang="en-US" dirty="0"/>
              <a:t>Human Resources is all about the people in your company. In fact, the head of Human Resources is often known as a </a:t>
            </a:r>
            <a:r>
              <a:rPr lang="en-US" dirty="0">
                <a:hlinkClick r:id="rId10" tooltip="The Org's guide to Chief People Officers"/>
              </a:rPr>
              <a:t>Chief People Officer (CPO)</a:t>
            </a:r>
            <a:r>
              <a:rPr lang="en-US" dirty="0"/>
              <a:t>. Human Resources’ responsibilities cover:</a:t>
            </a:r>
          </a:p>
          <a:p>
            <a:r>
              <a:rPr lang="en-US" dirty="0"/>
              <a:t>Recruiting</a:t>
            </a:r>
          </a:p>
          <a:p>
            <a:r>
              <a:rPr lang="en-US" dirty="0"/>
              <a:t>Hiring</a:t>
            </a:r>
          </a:p>
          <a:p>
            <a:r>
              <a:rPr lang="en-US" dirty="0"/>
              <a:t>Onboarding</a:t>
            </a:r>
          </a:p>
          <a:p>
            <a:r>
              <a:rPr lang="en-US" dirty="0"/>
              <a:t>Training</a:t>
            </a:r>
          </a:p>
          <a:p>
            <a:r>
              <a:rPr lang="en-US" dirty="0"/>
              <a:t>Employee performance reviews</a:t>
            </a:r>
          </a:p>
          <a:p>
            <a:r>
              <a:rPr lang="en-US" dirty="0"/>
              <a:t>Conflict management</a:t>
            </a:r>
          </a:p>
          <a:p>
            <a:r>
              <a:rPr lang="en-US" dirty="0"/>
              <a:t>With the right Human Resources approach, you can staff your fintech organization with quality employees, establish a strong company culture, and maintain high morale.</a:t>
            </a:r>
          </a:p>
          <a:p>
            <a:r>
              <a:rPr lang="en-US" b="1" dirty="0"/>
              <a:t>Legal</a:t>
            </a:r>
          </a:p>
          <a:p>
            <a:r>
              <a:rPr lang="en-US" dirty="0"/>
              <a:t>When you’re operating a fintech company, it’s essential to be aware of the law. Money is serious business, and even breaking the law by accident could have serious consequences. Plus, if anyone tries to bring a lawsuit against your company for any reason, it helps to have some expert help in your corner.</a:t>
            </a:r>
          </a:p>
          <a:p>
            <a:r>
              <a:rPr lang="en-US" dirty="0"/>
              <a:t>Your Legal department will ensure that your organization complies with all the relevant laws or regulations. They can also draft resolutions, review contracts, and defend your company if you ever encounter legal troubles. An effective fintech Legal team should include:</a:t>
            </a:r>
          </a:p>
          <a:p>
            <a:r>
              <a:rPr lang="en-US" dirty="0"/>
              <a:t>Counsels</a:t>
            </a:r>
          </a:p>
          <a:p>
            <a:r>
              <a:rPr lang="en-US" dirty="0"/>
              <a:t>Compliance Officers</a:t>
            </a:r>
          </a:p>
          <a:p>
            <a:r>
              <a:rPr lang="en-US" dirty="0"/>
              <a:t>Privacy Law Specialists</a:t>
            </a:r>
          </a:p>
          <a:p>
            <a:r>
              <a:rPr lang="en-US" dirty="0"/>
              <a:t>Regulatory Lawyers</a:t>
            </a:r>
          </a:p>
          <a:p>
            <a:r>
              <a:rPr lang="en-US" dirty="0"/>
              <a:t>This team will report to a Chief Legal Officer (CLO) or General Counsel.</a:t>
            </a:r>
          </a:p>
          <a:p>
            <a:r>
              <a:rPr lang="en-US" b="1" dirty="0"/>
              <a:t>Optimize Your Fintech Company With a Public Org Chart</a:t>
            </a:r>
          </a:p>
          <a:p>
            <a:r>
              <a:rPr lang="en-US" dirty="0"/>
              <a:t>One of the easiest ways to improve your company’s structure is by setting up an org chart. Org charts give you a visual layout of your organization’s design, showing the relationship of departments and employees at a glance. That way, you can easily spot ways to optimize your strategy.</a:t>
            </a:r>
          </a:p>
          <a:p>
            <a:endParaRPr lang="en-US" dirty="0"/>
          </a:p>
        </p:txBody>
      </p:sp>
    </p:spTree>
    <p:extLst>
      <p:ext uri="{BB962C8B-B14F-4D97-AF65-F5344CB8AC3E}">
        <p14:creationId xmlns:p14="http://schemas.microsoft.com/office/powerpoint/2010/main" val="343361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1490</Words>
  <Application>Microsoft Office PowerPoint</Application>
  <PresentationFormat>On-screen Show (4:3)</PresentationFormat>
  <Paragraphs>137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AmpliPay Updated Organizational Structure</vt:lpstr>
      <vt:lpstr>1. Executive Leadership</vt:lpstr>
      <vt:lpstr>2. Departmental Structure</vt:lpstr>
      <vt:lpstr>3. Global Structure and Responsibilities</vt:lpstr>
      <vt:lpstr>4. Board of Directors &amp; Governance</vt:lpstr>
      <vt:lpstr>5. Expanded Executive Leadership</vt:lpstr>
      <vt:lpstr>6. Strategic Divisions &amp; Specialized Units</vt:lpstr>
      <vt:lpstr>7. Comprehensive Fintech Departmental Structure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Adam Elisha</cp:lastModifiedBy>
  <cp:revision>5</cp:revision>
  <dcterms:created xsi:type="dcterms:W3CDTF">2013-01-27T09:14:16Z</dcterms:created>
  <dcterms:modified xsi:type="dcterms:W3CDTF">2025-05-26T21:06:05Z</dcterms:modified>
  <cp:category/>
</cp:coreProperties>
</file>